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Google reviews</c:v>
                </c:pt>
              </c:strCache>
            </c:strRef>
          </c:tx>
          <c:spPr>
            <a:solidFill>
              <a:srgbClr val="E038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38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C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C6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C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C6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C6D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Rai &amp; Associates</c:v>
                  </c:pt>
                  <c:pt idx="1">
                    <c:v>Kaur Law</c:v>
                  </c:pt>
                  <c:pt idx="2">
                    <c:v>Baughman &amp; Wang</c:v>
                  </c:pt>
                  <c:pt idx="3">
                    <c:v>Derek Lim</c:v>
                  </c:pt>
                  <c:pt idx="4">
                    <c:v>Tricia Wang</c:v>
                  </c:pt>
                  <c:pt idx="5">
                    <c:v>American Visa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54</c:v>
                </c:pt>
                <c:pt idx="2">
                  <c:v>55</c:v>
                </c:pt>
                <c:pt idx="3">
                  <c:v>96</c:v>
                </c:pt>
                <c:pt idx="4">
                  <c:v>143</c:v>
                </c:pt>
                <c:pt idx="5">
                  <c:v>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open with the pitch. Open with the disclaimer finding on slide 4. He has been sold to for forty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here is public. Tricia Wang, 39159 Paseo Padre - the next building along - has 143 Google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opening. Lead here, not with the deck. It proves homework and costs him nothing to accept.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Rule 7.3 out loud before he raises it. This slide is the trust, not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F5811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2514600"/>
            <a:ext cx="1234440" cy="1234440"/>
          </a:xfrm>
          <a:prstGeom prst="ellipse">
            <a:avLst/>
          </a:prstGeom>
          <a:solidFill>
            <a:srgbClr val="F9A458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3154680"/>
            <a:ext cx="1234440" cy="1234440"/>
          </a:xfrm>
          <a:prstGeom prst="ellipse">
            <a:avLst/>
          </a:prstGeom>
          <a:solidFill>
            <a:srgbClr val="FCC38C"/>
          </a:solidFill>
          <a:ln/>
        </p:spPr>
      </p:sp>
      <p:sp>
        <p:nvSpPr>
          <p:cNvPr id="5" name="Shape 3"/>
          <p:cNvSpPr/>
          <p:nvPr/>
        </p:nvSpPr>
        <p:spPr>
          <a:xfrm>
            <a:off x="10104120" y="3063240"/>
            <a:ext cx="457200" cy="457200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85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GROWTH STRATEGY   ·   PREPARED FOR RAI &amp; ASSOCIATES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Forty-five years of authority.
</a:t>
            </a:r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Thirteen reviews.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growth blueprint for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Fremont · San Francisco · Sacramento · New Delhi · Chandigarh.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Zapplon   ·   July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729984"/>
            <a:ext cx="8321040" cy="128016"/>
          </a:xfrm>
          <a:prstGeom prst="rect">
            <a:avLst/>
          </a:prstGeom>
          <a:solidFill>
            <a:srgbClr val="6C2BD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built a practice with </a:t>
            </a:r>
            <a:pPr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forty-five years of standing</a:t>
            </a:r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offices on two continents, and admission before five federal circuits. On the channels where clients now choose an immigration lawyer, almost none of it is </a:t>
            </a:r>
            <a:pPr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F58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gap is the opportunity.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49808" y="4206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 — after 45 years of practice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30632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74720" y="4206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on your Google Business Profile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98464" y="30632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99632" y="4206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serving the same content to Google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23376" y="30632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24544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924544" y="4206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at the immigration firm next door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mandate:  </a:t>
            </a:r>
            <a:pPr indent="0" marL="0">
              <a:buNone/>
            </a:pPr>
            <a:r>
              <a:rPr lang="en-US" sz="13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forty-five years of standing into a pipeline that can be measured.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 · 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landmark practice,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unfindable in a search box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is there. The digital signal isn't.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1F8F2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WHAT'S WORKING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Practising since 1981 · LL.B Delhi, LL.M Georgetown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before the 2nd, 3rd and 9th Circuits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AILA · South Asian Bar Association · Bar Council of India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member of TiE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offices — Fremont, SF, Sacramento, Delhi, Chandigarh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4.4★ — clients name your staff by name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6974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CF1F2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 WHERE YOU'RE LEAKING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29184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Rating 12 · just 20 organic keywords · ~80 visits/mo, and falling.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paid keywords, 0 paid clicks — the fastest lead channel is untouched.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Google reviews. Competitors nearby hold 54–149.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shows no photos — and reads "Closed".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railaw.com and railaw.in serve near-identical pages; the .in carries a Bar Council ad notice.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on any link. Nothing is being measured.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above is from public sources — Google, Ahrefs and your own two websites — pulled before this meeting. Nothing is estimated.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  ·  BEFORE WE MET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Indian site tells American clients </a:t>
            </a:r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E0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advertise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5778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railaw.in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4937760" cy="1417320"/>
          </a:xfrm>
          <a:prstGeom prst="rect">
            <a:avLst/>
          </a:prstGeom>
          <a:solidFill>
            <a:srgbClr val="FBF3F3"/>
          </a:solidFill>
          <a:ln w="9525">
            <a:solidFill>
              <a:srgbClr val="F0D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3580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“…the rules of the Indian Bar Council prohibit lawyers from advertising and soliciting work through communication in the public domain.”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from an Indian law-firm template — sitting on the site of a US immigration practice, indexed by Google alongside railaw.com.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340864"/>
            <a:ext cx="310896" cy="310896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contradicts the site's purpose.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built to attract US clients announces that its owner may not solicit them.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419856"/>
            <a:ext cx="310896" cy="310896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reads both domains.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36941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pages on two hosts split the authority that should sit on 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498848"/>
            <a:ext cx="310896" cy="310896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4443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twenty-minute fix.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47731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precisely why nobody has told you about 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553212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3EEFC"/>
          </a:solidFill>
          <a:ln w="9525">
            <a:solidFill>
              <a:srgbClr val="6C2B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55321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noticed this before we ever walked in.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  ·  FREMONT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choose on reviews. </a:t>
            </a:r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thirteen.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 · immigration practices within half a mile of 39111 Paseo Padre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7040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2377440"/>
            <a:ext cx="3611880" cy="3429000"/>
          </a:xfrm>
          <a:prstGeom prst="roundRect">
            <a:avLst>
              <a:gd name="adj" fmla="val 1600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8388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COSTS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83880" y="30175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comparing three Fremont immigration firms sees 13 reviews beside 143.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conclude you are new.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0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conclude you are small.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Forty-five years of practice, four decades of satisfied clients, and almost none of it was ever asked for in writing.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925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 is not the only local ranking factor — but it is the one clients actually read.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  ·  YOUR PROFILE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Google profile is a blank storefront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Google returns your listing it shows no photographs — and displays "Closed." Every competitor on Paseo Padre shows photos and open hours.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CF1F2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photos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3401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1488" y="260604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photos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3401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Tricia Wang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74336" y="260604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photos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38928" y="3401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Kaur Law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87184" y="260604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1776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photos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51776" y="3401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Lim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00032" y="260604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6F5FA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64624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photos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64624" y="3401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Visa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measured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parameters on any of your links. You cannot know which channel produced last month's clients — so you cannot fund the one that works.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5262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buy the directories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5029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Justia, the immigration lawyer in the next building appears as a paid PREMIUM listing. Your profile sits below, unsponsored.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SEARCH  ·  GOOGLE &amp; META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buy the top of the page — </a:t>
            </a:r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Google and Meta</a:t>
            </a:r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811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GOOGLE ADS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"best law firms in Fremont" and Robert P. Bergman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Mitchell Leeds appear as Sponsored. Your spend: $0.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0" y="214884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2BD9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META AD LIBRARY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2834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Competitors' Facebook &amp; Instagram campaigns are public here.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Rai &amp; Associates and you'll find nothing.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0972800" cy="1600200"/>
          </a:xfrm>
          <a:prstGeom prst="roundRect">
            <a:avLst>
              <a:gd name="adj" fmla="val 3429"/>
            </a:avLst>
          </a:prstGeom>
          <a:solidFill>
            <a:srgbClr val="F3EEFC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channel to own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8463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above the map is a paid ad. Competitors capture the highest-intent click — the person who just typed "immigration lawyer Fremont" and is ready to call — while your name shows only if they scroll. Paid search and paid social are the fastest, most controllable lead channels there are, and you run none of them.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Google Ads on your core terms + an always-on Meta presence — funded into your own accounts, never marked up, and measured to cost-per-consult.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ASSET  ·  THE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strongest asset is </a:t>
            </a:r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</a:t>
            </a:r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none of it is captured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Hardeep S. Rai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3035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member, TiE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 Area's South Asian founders' network.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3721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Asian Bar Association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AILA, the immigration bar.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Council of India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690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in New Delhi and Chandigarh.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5093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federal circuits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5376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to practise before each.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286000"/>
            <a:ext cx="5212080" cy="3566160"/>
          </a:xfrm>
          <a:prstGeom prst="roundRect">
            <a:avLst>
              <a:gd name="adj" fmla="val 1538"/>
            </a:avLst>
          </a:prstGeom>
          <a:solidFill>
            <a:srgbClr val="FCF1F2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it converts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Forty-five years of referrals move by word of mouth, at the speed of a phone call.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page for TiE members. No page for corporate clients. No way for a referral to arrive, identify itself, and book.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reputation is a private asset. We make it a public one.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 ·  YOUR WEBSITE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to load, and </a:t>
            </a:r>
            <a:pPr indent="0" marL="0">
              <a:buNone/>
            </a:pPr>
            <a:r>
              <a:rPr lang="en-US" sz="3300" b="1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greets the visitor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own PageSpeed Insights flags railaw.com as slow — and the moment a visitor lands, nothing captures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4747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24912"/>
            <a:ext cx="292608" cy="292608"/>
          </a:xfrm>
          <a:prstGeom prst="ellipse">
            <a:avLst/>
          </a:prstGeom>
          <a:solidFill>
            <a:srgbClr val="E038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27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&amp; technically heavy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PageSpeed Insights rates railaw.com poorly on mobile. Render-blocking scripts and heavy, un-cached assets make the page crawl — and every second of delay quietly cuts conversions.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514600"/>
            <a:ext cx="34747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724912"/>
            <a:ext cx="292608" cy="292608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127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instant capture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 chatbot. A visitor with an urgent case finds three paragraphs and a phone number. At 2am Pacific — 2:30pm in Chandigarh — the line rings out, and they call the next firm on the 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2514600"/>
            <a:ext cx="34747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724912"/>
            <a:ext cx="292608" cy="292608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3127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conversion-built site plus a 24/7 AI intake agent in Hindi and Punjabi that captures the matter and books the consult. It never advises — you remain the lawyer, and Rule 5.3 is satisfied.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F3EEFC"/>
          </a:solidFill>
          <a:ln w="9525">
            <a:solidFill>
              <a:srgbClr val="6C2B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321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competitors offer bilingual English–Spanish intake. Nobody in Fremont offers Hindi and Punjabi across IST.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31B4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UNFAIR ADVANTAGE   ·   AND ITS LIMITS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not touch your prospective clients.
</a:t>
            </a:r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after the employers.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31255C"/>
          </a:solidFill>
          <a:ln w="9525">
            <a:solidFill>
              <a:srgbClr val="4A3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97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7.3.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forbids you from soliciting a prospective client you have no relationship with. Any agency that offers to cold-call H-1B holders on your behalf is offering to put your licence at risk. We are not that agency.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2C2255"/>
          </a:solidFill>
          <a:ln w="9525">
            <a:solidFill>
              <a:srgbClr val="463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Employer-side targeting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D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mobility and immigration managers at Bay Area technology companies — the parties who actually file H-1B, L-1, O-1 and PERM petitions.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2C2255"/>
          </a:solidFill>
          <a:ln w="9525">
            <a:solidFill>
              <a:srgbClr val="463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B2B, not solicitation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4754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D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petition is filed by the employer. Approaching an employer is ordinary business development, and no conduct rule touches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2C2255"/>
          </a:solidFill>
          <a:ln w="9525">
            <a:solidFill>
              <a:srgbClr val="463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do this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4754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D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represents corporations. This is the practice you have, marketed to the buyers who exist.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Zapplon Growth Engine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systems, in the order we would build them for you.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&amp; local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2461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forty-five years of clients for what nobody ever asked. 13 → the top of Paseo Padre.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07992" y="29260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domain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7992" y="32461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railaw.in into railaw.com. Remove the Bar Council notice. Rebuild the homepage.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237744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11312" y="29260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AI visibility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11312" y="32461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terms — asylum, H-1B, EB-5, deportation defence — and the AI answers that now precede them.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306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04672" y="47091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intake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" y="502920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Punjabi, across IST. Captures and books. Never advises.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416052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4306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07992" y="47091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outreach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07992" y="502920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immigration decision-makers. Rule 7.3-clean by construction.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416052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4306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211312" y="47091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capture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11312" y="502920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TiE, SABA and AILA referrals arrive with a name attached, not a missed call.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90 DAYS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not forecast your traffic </a:t>
            </a:r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we have measured 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agency that has walked into this office promised you a number. None of them had a baseline. Here is what we do instead.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5811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340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1–14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0266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31720" y="2606040"/>
            <a:ext cx="9189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6517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Council notice removed. Domains consolidated. Google profile rebuilt with photographs. Review requests to your last fifty closed matters.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6C2BD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31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15–45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1239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31720" y="3703320"/>
            <a:ext cx="9189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7490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installed on every link and every call. Multilingual intake agent live. The first month in forty-five years where something is measured.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F9D5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286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46–90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22122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31720" y="4800600"/>
            <a:ext cx="9189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48463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 asylum, H-1B and EB-5. Employer outreach begins. We show you a baseline, then — and only then — we set targets.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F3EEFC"/>
          </a:solidFill>
          <a:ln w="9525">
            <a:solidFill>
              <a:srgbClr val="6C2B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321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been sold projections for forty years. We would rather earn the second meeting than win the first.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8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INVESTMENT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would start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is separate — funded into your own accounts, never marked up.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6350">
            <a:solidFill>
              <a:srgbClr val="DDD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Local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</a:t>
            </a:r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month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consolidation, homepage rebuild, technical SEO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+ review engine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— build, management, optimisation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tracking, CRM, monthly strategy call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25400">
            <a:solidFill>
              <a:srgbClr val="6C2B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0" y="2121408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6C2BD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4040" y="21214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Local + Intake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3474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</a:t>
            </a:r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month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Essentials, plus: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intake — Hindi, Punjabi, IST coverage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Employer-side outreach to corporate immigration buyers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to recover lost website visitors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ad budget set with you — funded into your own accounts.  ·  One-time setup XXXX — waived on a six-month partnership.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&amp; Associates  ×  Zapplon   ·   Digital growth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Zapplon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Forty-five years of standing.
</a:t>
            </a:r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make it findable.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minutes. We walk your Google profile, your two websites and your intake line, and you keep the findings whether or not you work with 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5349240"/>
            <a:ext cx="3383280" cy="685800"/>
          </a:xfrm>
          <a:prstGeom prst="roundRect">
            <a:avLst>
              <a:gd name="adj" fmla="val 18667"/>
            </a:avLst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349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audit  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hello@zapplon.com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6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zapplon.com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 &amp; Associates x Zapplon</dc:title>
  <dc:subject>PptxGenJS Presentation</dc:subject>
  <dc:creator>Zapplon</dc:creator>
  <cp:lastModifiedBy>Zapplon</cp:lastModifiedBy>
  <cp:revision>1</cp:revision>
  <dcterms:created xsi:type="dcterms:W3CDTF">2026-07-10T14:29:14Z</dcterms:created>
  <dcterms:modified xsi:type="dcterms:W3CDTF">2026-07-10T14:29:14Z</dcterms:modified>
</cp:coreProperties>
</file>