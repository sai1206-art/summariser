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3A81E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3328"/>
            </a:solidFill>
          </a:ln>
        </c:spPr>
        <c:txPr>
          <a:bodyPr/>
          <a:lstStyle/>
          <a:p>
            <a:pPr>
              <a:defRPr sz="800">
                <a:solidFill>
                  <a:srgbClr val="A99B8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3A3328"/>
            </a:solidFill>
          </a:ln>
        </c:spPr>
        <c:txPr>
          <a:bodyPr/>
          <a:lstStyle/>
          <a:p>
            <a:pPr>
              <a:defRPr sz="800">
                <a:solidFill>
                  <a:srgbClr val="A99B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A99B85"/>
          </a:solidFill>
          <a:latin typeface="Trebuchet M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3A81E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3328"/>
            </a:solidFill>
          </a:ln>
        </c:spPr>
        <c:txPr>
          <a:bodyPr/>
          <a:lstStyle/>
          <a:p>
            <a:pPr>
              <a:defRPr sz="800">
                <a:solidFill>
                  <a:srgbClr val="A99B8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3A3328"/>
            </a:solidFill>
          </a:ln>
        </c:spPr>
        <c:txPr>
          <a:bodyPr/>
          <a:lstStyle/>
          <a:p>
            <a:pPr>
              <a:defRPr sz="800">
                <a:solidFill>
                  <a:srgbClr val="A99B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A99B85"/>
          </a:solidFill>
          <a:latin typeface="Trebuchet M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3A81E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3328"/>
            </a:solidFill>
          </a:ln>
        </c:spPr>
        <c:txPr>
          <a:bodyPr/>
          <a:lstStyle/>
          <a:p>
            <a:pPr>
              <a:defRPr sz="800">
                <a:solidFill>
                  <a:srgbClr val="A99B8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3A3328"/>
            </a:solidFill>
          </a:ln>
        </c:spPr>
        <c:txPr>
          <a:bodyPr/>
          <a:lstStyle/>
          <a:p>
            <a:pPr>
              <a:defRPr sz="800">
                <a:solidFill>
                  <a:srgbClr val="A99B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A99B85"/>
          </a:solidFill>
          <a:latin typeface="Trebuchet M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3A81E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3328"/>
            </a:solidFill>
          </a:ln>
        </c:spPr>
        <c:txPr>
          <a:bodyPr/>
          <a:lstStyle/>
          <a:p>
            <a:pPr>
              <a:defRPr sz="800">
                <a:solidFill>
                  <a:srgbClr val="A99B8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3A3328"/>
            </a:solidFill>
          </a:ln>
        </c:spPr>
        <c:txPr>
          <a:bodyPr/>
          <a:lstStyle/>
          <a:p>
            <a:pPr>
              <a:defRPr sz="800">
                <a:solidFill>
                  <a:srgbClr val="A99B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A99B85"/>
          </a:solidFill>
          <a:latin typeface="Trebuchet M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osha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revolution.resn.globa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ardrop 2"/>
          <p:cNvSpPr/>
          <p:nvPr/>
        </p:nvSpPr>
        <p:spPr>
          <a:xfrm rot="18900000">
            <a:off x="566928" y="1874519"/>
            <a:ext cx="502920" cy="502920"/>
          </a:xfrm>
          <a:prstGeom prst="teardrop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4ECDF"/>
                </a:solidFill>
                <a:latin typeface="Trebuchet MS"/>
              </a:rPr>
              <a:t>Zapplon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3A81E"/>
                </a:solidFill>
                <a:latin typeface="Trebuchet MS"/>
              </a:rPr>
              <a:t>Outcomes, not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99B85"/>
                </a:solidFill>
                <a:latin typeface="Trebuchet MS"/>
              </a:rPr>
              <a:t>Performance growth marketing for US local &amp; consumer businesses — services &amp; portfolio.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ECDF"/>
                </a:solidFill>
                <a:latin typeface="Trebuchet MS"/>
              </a:rPr>
              <a:t>zapplon.com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Zapplon</a:t>
            </a:r>
            <a:r>
              <a:rPr sz="900" b="0">
                <a:solidFill>
                  <a:srgbClr val="A99B85"/>
                </a:solidFill>
                <a:latin typeface="Trebuchet MS"/>
              </a:rPr>
              <a:t>  ·  outcomes, not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81E"/>
                </a:solidFill>
                <a:latin typeface="Trebuchet MS"/>
              </a:rPr>
              <a:t>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658368"/>
            <a:ext cx="411480" cy="27940"/>
          </a:xfrm>
          <a:prstGeom prst="rect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ECDF"/>
                </a:solidFill>
                <a:latin typeface="Trebuchet MS"/>
              </a:rPr>
              <a:t>What we do.</a:t>
            </a:r>
          </a:p>
        </p:txBody>
      </p:sp>
      <p:sp>
        <p:nvSpPr>
          <p:cNvPr id="6" name="Teardrop 5"/>
          <p:cNvSpPr/>
          <p:nvPr/>
        </p:nvSpPr>
        <p:spPr>
          <a:xfrm rot="18900000">
            <a:off x="10378440" y="320040"/>
            <a:ext cx="237744" cy="237744"/>
          </a:xfrm>
          <a:prstGeom prst="teardrop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71048" y="274320"/>
            <a:ext cx="1051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CDF"/>
                </a:solidFill>
                <a:latin typeface="Trebuchet MS"/>
              </a:rPr>
              <a:t>Zapplon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A81E"/>
                </a:solidFill>
                <a:latin typeface="Trebuchet MS"/>
              </a:rPr>
              <a:t>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76479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ECDF"/>
                </a:solidFill>
                <a:latin typeface="Trebuchet MS"/>
              </a:rPr>
              <a:t>Local SEO &amp; Google Business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167128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Own the map pack where buying decisions start.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6002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74650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A81E"/>
                </a:solidFill>
                <a:latin typeface="Trebuchet MS"/>
              </a:rPr>
              <a:t>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176479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ECDF"/>
                </a:solidFill>
                <a:latin typeface="Trebuchet MS"/>
              </a:rPr>
              <a:t>Website design &amp;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2167128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Fast, conversion-first sites that turn visits into bookings.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6" y="16002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174650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A81E"/>
                </a:solidFill>
                <a:latin typeface="Trebuchet MS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5944" y="176479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ECDF"/>
                </a:solidFill>
                <a:latin typeface="Trebuchet MS"/>
              </a:rPr>
              <a:t>Paid 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5944" y="2167128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Google, Meta &amp; delivery-app campaigns tuned to cost-per-lead.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45536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A81E"/>
                </a:solidFill>
                <a:latin typeface="Trebuchet MS"/>
              </a:rPr>
              <a:t>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3101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ECDF"/>
                </a:solidFill>
                <a:latin typeface="Trebuchet MS"/>
              </a:rPr>
              <a:t>Content &amp; 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3712464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A steady drumbeat that keeps your brand chosen.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3145536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32918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A81E"/>
                </a:solidFill>
                <a:latin typeface="Trebuchet MS"/>
              </a:rPr>
              <a:t>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33101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ECDF"/>
                </a:solidFill>
                <a:latin typeface="Trebuchet MS"/>
              </a:rPr>
              <a:t>Email &amp; cold outreach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8616" y="3712464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Pipelines that warm, nurture and book.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6" y="3145536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32918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A81E"/>
                </a:solidFill>
                <a:latin typeface="Trebuchet MS"/>
              </a:rPr>
              <a:t>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5944" y="33101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ECDF"/>
                </a:solidFill>
                <a:latin typeface="Trebuchet MS"/>
              </a:rPr>
              <a:t>AI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5944" y="3712464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Receptionists, follow-ups and workflows that never sleep.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892040"/>
            <a:ext cx="11192256" cy="123444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093208"/>
            <a:ext cx="22384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3A81E"/>
                </a:solidFill>
                <a:latin typeface="Trebuchet MS"/>
              </a:rPr>
              <a:t>[[ clients_served ]]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605272"/>
            <a:ext cx="22384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A99B85"/>
                </a:solidFill>
                <a:latin typeface="Trebuchet MS"/>
              </a:rPr>
              <a:t>CLIENTS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1371" y="5093208"/>
            <a:ext cx="22384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3A81E"/>
                </a:solidFill>
                <a:latin typeface="Trebuchet MS"/>
              </a:rPr>
              <a:t>[[ campaigns_managed ]]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1371" y="5605272"/>
            <a:ext cx="22384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A99B85"/>
                </a:solidFill>
                <a:latin typeface="Trebuchet MS"/>
              </a:rPr>
              <a:t>CAMPAIGNS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9822" y="5093208"/>
            <a:ext cx="22384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3A81E"/>
                </a:solidFill>
                <a:latin typeface="Trebuchet MS"/>
              </a:rPr>
              <a:t>[[ leads_generated ]]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9822" y="5605272"/>
            <a:ext cx="22384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A99B85"/>
                </a:solidFill>
                <a:latin typeface="Trebuchet MS"/>
              </a:rPr>
              <a:t>LEADS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18273" y="5093208"/>
            <a:ext cx="22384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3A81E"/>
                </a:solidFill>
                <a:latin typeface="Trebuchet MS"/>
              </a:rPr>
              <a:t>[[ websites_built ]]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8273" y="5605272"/>
            <a:ext cx="22384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A99B85"/>
                </a:solidFill>
                <a:latin typeface="Trebuchet MS"/>
              </a:rPr>
              <a:t>WEBSITES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6724" y="5093208"/>
            <a:ext cx="22384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3A81E"/>
                </a:solidFill>
                <a:latin typeface="Trebuchet MS"/>
              </a:rPr>
              <a:t>[[ ai_automations ]]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56724" y="5605272"/>
            <a:ext cx="22384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A99B85"/>
                </a:solidFill>
                <a:latin typeface="Trebuchet MS"/>
              </a:rPr>
              <a:t>AI AUTOMATIONS DEPLOYED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Zapplon</a:t>
            </a:r>
            <a:r>
              <a:rPr sz="900" b="0">
                <a:solidFill>
                  <a:srgbClr val="A99B85"/>
                </a:solidFill>
                <a:latin typeface="Trebuchet MS"/>
              </a:rPr>
              <a:t>  ·  outcomes, not hours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81E"/>
                </a:solidFill>
                <a:latin typeface="Trebuchet MS"/>
              </a:rPr>
              <a:t>PORTFOLIO · DENTAL · SAN JOSE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658368"/>
            <a:ext cx="411480" cy="27940"/>
          </a:xfrm>
          <a:prstGeom prst="rect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ardrop 4"/>
          <p:cNvSpPr/>
          <p:nvPr/>
        </p:nvSpPr>
        <p:spPr>
          <a:xfrm rot="18900000">
            <a:off x="10378440" y="320040"/>
            <a:ext cx="237744" cy="237744"/>
          </a:xfrm>
          <a:prstGeom prst="teardrop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71048" y="274320"/>
            <a:ext cx="1051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CDF"/>
                </a:solidFill>
                <a:latin typeface="Trebuchet MS"/>
              </a:rPr>
              <a:t>Zapplon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6868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 w="9525">
            <a:solidFill>
              <a:srgbClr val="3A3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896112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ECDF"/>
                </a:solidFill>
                <a:latin typeface="Trebuchet MS"/>
              </a:rPr>
              <a:t>[[ client_name ]]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716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99B85"/>
                </a:solidFill>
                <a:latin typeface="Trebuchet MS"/>
              </a:rPr>
              <a:t>Dental · San Jose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868680"/>
            <a:ext cx="5897880" cy="5257800"/>
          </a:xfrm>
          <a:prstGeom prst="roundRect">
            <a:avLst>
              <a:gd name="adj" fmla="val 4500"/>
            </a:avLst>
          </a:prstGeom>
          <a:solidFill>
            <a:srgbClr val="1E1A14"/>
          </a:solidFill>
          <a:ln w="9525">
            <a:solidFill>
              <a:srgbClr val="3A3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868680"/>
            <a:ext cx="5897880" cy="384048"/>
          </a:xfrm>
          <a:prstGeom prst="roundRect">
            <a:avLst>
              <a:gd name="adj" fmla="val 45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71032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72200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73368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941832"/>
            <a:ext cx="4800600" cy="237744"/>
          </a:xfrm>
          <a:prstGeom prst="roundRect">
            <a:avLst>
              <a:gd name="adj" fmla="val 50000"/>
            </a:avLst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946404"/>
            <a:ext cx="4617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99B85"/>
                </a:solidFill>
                <a:latin typeface="Trebuchet MS"/>
              </a:rPr>
              <a:t>google.com/search?q=best+dental+centers+in+san+jose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572768"/>
            <a:ext cx="5166360" cy="4233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DROP SCREENSHOT HERE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Google Places screenshot — “best dental centers in san jose”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(attached asset: dental-san-jose search results)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9202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3A81E"/>
                </a:solidFill>
                <a:latin typeface="Trebuchet MS"/>
              </a:rPr>
              <a:t>WHAT WE DID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40280"/>
            <a:ext cx="5029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Google Business Profile optimization + local SEO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Review engine — steady 5★ velocity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Website refresh + booking funnel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3A81E"/>
                </a:solidFill>
                <a:latin typeface="Trebuchet MS"/>
              </a:rPr>
              <a:t>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rank_before ]] → [[ rank_after ]]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RANKING · "[[ KEYWORD ]]"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21992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0008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reviews_before ]] → [[ reviews_after ]] ([[ rating ]]★)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REVIEWS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41064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+[[ traffic_growth_pct ]]%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TRAFFIC · [[ PERIOD ]]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leads_per_month ]]/mo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LEADS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21992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50008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conversion_pct ]]%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0008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CONVERSIONS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41064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automation ]]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AI · [[ VOLUME ]]/MO HANDLED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502920" y="5742432"/>
          <a:ext cx="2377440" cy="6035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3017520" y="5742432"/>
            <a:ext cx="255117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A99B85"/>
                </a:solidFill>
                <a:latin typeface="Trebuchet MS"/>
              </a:rPr>
              <a:t>editable chart — replace with real before/after values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Zapplon</a:t>
            </a:r>
            <a:r>
              <a:rPr sz="900" b="0">
                <a:solidFill>
                  <a:srgbClr val="A99B85"/>
                </a:solidFill>
                <a:latin typeface="Trebuchet MS"/>
              </a:rPr>
              <a:t>  ·  outcomes, not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81E"/>
                </a:solidFill>
                <a:latin typeface="Trebuchet MS"/>
              </a:rPr>
              <a:t>PORTFOLIO · LEGAL · SAN JOSE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658368"/>
            <a:ext cx="411480" cy="27940"/>
          </a:xfrm>
          <a:prstGeom prst="rect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ardrop 4"/>
          <p:cNvSpPr/>
          <p:nvPr/>
        </p:nvSpPr>
        <p:spPr>
          <a:xfrm rot="18900000">
            <a:off x="10378440" y="320040"/>
            <a:ext cx="237744" cy="237744"/>
          </a:xfrm>
          <a:prstGeom prst="teardrop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71048" y="274320"/>
            <a:ext cx="1051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CDF"/>
                </a:solidFill>
                <a:latin typeface="Trebuchet MS"/>
              </a:rPr>
              <a:t>Zapplon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6868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 w="9525">
            <a:solidFill>
              <a:srgbClr val="3A3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896112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ECDF"/>
                </a:solidFill>
                <a:latin typeface="Trebuchet MS"/>
              </a:rPr>
              <a:t>[[ client_name ]]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716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99B85"/>
                </a:solidFill>
                <a:latin typeface="Trebuchet MS"/>
              </a:rPr>
              <a:t>Legal · San Jose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868680"/>
            <a:ext cx="5897880" cy="5257800"/>
          </a:xfrm>
          <a:prstGeom prst="roundRect">
            <a:avLst>
              <a:gd name="adj" fmla="val 4500"/>
            </a:avLst>
          </a:prstGeom>
          <a:solidFill>
            <a:srgbClr val="1E1A14"/>
          </a:solidFill>
          <a:ln w="9525">
            <a:solidFill>
              <a:srgbClr val="3A3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868680"/>
            <a:ext cx="5897880" cy="384048"/>
          </a:xfrm>
          <a:prstGeom prst="roundRect">
            <a:avLst>
              <a:gd name="adj" fmla="val 45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71032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72200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73368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941832"/>
            <a:ext cx="4800600" cy="237744"/>
          </a:xfrm>
          <a:prstGeom prst="roundRect">
            <a:avLst>
              <a:gd name="adj" fmla="val 50000"/>
            </a:avLst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946404"/>
            <a:ext cx="4617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99B85"/>
                </a:solidFill>
                <a:latin typeface="Trebuchet MS"/>
              </a:rPr>
              <a:t>google.com/search?q=best+law+firms+in+san+jose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572768"/>
            <a:ext cx="5166360" cy="4233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DROP SCREENSHOT HERE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Google Businesses screenshot — “best law firms in san jose”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(attached asset: legal-san-jose search results)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9202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3A81E"/>
                </a:solidFill>
                <a:latin typeface="Trebuchet MS"/>
              </a:rPr>
              <a:t>WHAT WE DID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40280"/>
            <a:ext cx="5029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Local SEO + practice-area landing pages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Google Ads on high-intent defense keywords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AI intake receptionist — 24/7 call answering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3A81E"/>
                </a:solidFill>
                <a:latin typeface="Trebuchet MS"/>
              </a:rPr>
              <a:t>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rank_before ]] → [[ rank_after ]]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RANKING · "[[ KEYWORD ]]"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21992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0008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reviews_before ]] → [[ reviews_after ]] ([[ rating ]]★)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REVIEWS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41064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+[[ traffic_growth_pct ]]%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TRAFFIC · [[ PERIOD ]]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leads_per_month ]]/mo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LEADS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21992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50008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conversion_pct ]]%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0008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CONVERSIONS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41064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automation ]]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AI · [[ VOLUME ]]/MO HANDLED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502920" y="5742432"/>
          <a:ext cx="2377440" cy="6035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3017520" y="5742432"/>
            <a:ext cx="255117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A99B85"/>
                </a:solidFill>
                <a:latin typeface="Trebuchet MS"/>
              </a:rPr>
              <a:t>editable chart — replace with real before/after values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Zapplon</a:t>
            </a:r>
            <a:r>
              <a:rPr sz="900" b="0">
                <a:solidFill>
                  <a:srgbClr val="A99B85"/>
                </a:solidFill>
                <a:latin typeface="Trebuchet MS"/>
              </a:rPr>
              <a:t>  ·  outcomes, not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81E"/>
                </a:solidFill>
                <a:latin typeface="Trebuchet MS"/>
              </a:rPr>
              <a:t>PORTFOLIO · FITNESS · SAN JOSE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658368"/>
            <a:ext cx="411480" cy="27940"/>
          </a:xfrm>
          <a:prstGeom prst="rect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ardrop 4"/>
          <p:cNvSpPr/>
          <p:nvPr/>
        </p:nvSpPr>
        <p:spPr>
          <a:xfrm rot="18900000">
            <a:off x="10378440" y="320040"/>
            <a:ext cx="237744" cy="237744"/>
          </a:xfrm>
          <a:prstGeom prst="teardrop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71048" y="274320"/>
            <a:ext cx="1051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CDF"/>
                </a:solidFill>
                <a:latin typeface="Trebuchet MS"/>
              </a:rPr>
              <a:t>Zapplon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6868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 w="9525">
            <a:solidFill>
              <a:srgbClr val="3A3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896112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ECDF"/>
                </a:solidFill>
                <a:latin typeface="Trebuchet MS"/>
              </a:rPr>
              <a:t>[[ client_name ]]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716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99B85"/>
                </a:solidFill>
                <a:latin typeface="Trebuchet MS"/>
              </a:rPr>
              <a:t>Fitness · San Jose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868680"/>
            <a:ext cx="5897880" cy="5257800"/>
          </a:xfrm>
          <a:prstGeom prst="roundRect">
            <a:avLst>
              <a:gd name="adj" fmla="val 4500"/>
            </a:avLst>
          </a:prstGeom>
          <a:solidFill>
            <a:srgbClr val="1E1A14"/>
          </a:solidFill>
          <a:ln w="9525">
            <a:solidFill>
              <a:srgbClr val="3A3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868680"/>
            <a:ext cx="5897880" cy="384048"/>
          </a:xfrm>
          <a:prstGeom prst="roundRect">
            <a:avLst>
              <a:gd name="adj" fmla="val 45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71032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72200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73368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941832"/>
            <a:ext cx="4800600" cy="237744"/>
          </a:xfrm>
          <a:prstGeom prst="roundRect">
            <a:avLst>
              <a:gd name="adj" fmla="val 50000"/>
            </a:avLst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946404"/>
            <a:ext cx="4617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99B85"/>
                </a:solidFill>
                <a:latin typeface="Trebuchet MS"/>
              </a:rPr>
              <a:t>google.com/search?q=best+gyms+in+san+jose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572768"/>
            <a:ext cx="5166360" cy="4233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DROP SCREENSHOT HERE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Search / listing screenshot for the fitness client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(insert client’s map-pack or listing capture)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9202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3A81E"/>
                </a:solidFill>
                <a:latin typeface="Trebuchet MS"/>
              </a:rPr>
              <a:t>WHAT WE DID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40280"/>
            <a:ext cx="5029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Google Business Profile + local SEO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Meta ads — trial-membership offers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Email win-back + referral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3A81E"/>
                </a:solidFill>
                <a:latin typeface="Trebuchet MS"/>
              </a:rPr>
              <a:t>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rank_before ]] → [[ rank_after ]]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RANKING · "[[ KEYWORD ]]"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21992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0008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reviews_before ]] → [[ reviews_after ]] ([[ rating ]]★)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REVIEWS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41064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+[[ traffic_growth_pct ]]%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TRAFFIC · [[ PERIOD ]]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leads_per_month ]]/mo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LEADS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21992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50008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conversion_pct ]]%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0008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CONVERSIONS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41064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automation ]]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AI · [[ VOLUME ]]/MO HANDLED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502920" y="5742432"/>
          <a:ext cx="2377440" cy="6035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3017520" y="5742432"/>
            <a:ext cx="255117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A99B85"/>
                </a:solidFill>
                <a:latin typeface="Trebuchet MS"/>
              </a:rPr>
              <a:t>editable chart — replace with real before/after values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Zapplon</a:t>
            </a:r>
            <a:r>
              <a:rPr sz="900" b="0">
                <a:solidFill>
                  <a:srgbClr val="A99B85"/>
                </a:solidFill>
                <a:latin typeface="Trebuchet MS"/>
              </a:rPr>
              <a:t>  ·  outcomes, not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81E"/>
                </a:solidFill>
                <a:latin typeface="Trebuchet MS"/>
              </a:rPr>
              <a:t>PORTFOLIO · MARTIAL ARTS · SAN JOSE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658368"/>
            <a:ext cx="411480" cy="27940"/>
          </a:xfrm>
          <a:prstGeom prst="rect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ardrop 4"/>
          <p:cNvSpPr/>
          <p:nvPr/>
        </p:nvSpPr>
        <p:spPr>
          <a:xfrm rot="18900000">
            <a:off x="10378440" y="320040"/>
            <a:ext cx="237744" cy="237744"/>
          </a:xfrm>
          <a:prstGeom prst="teardrop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71048" y="274320"/>
            <a:ext cx="1051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CDF"/>
                </a:solidFill>
                <a:latin typeface="Trebuchet MS"/>
              </a:rPr>
              <a:t>Zapplon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6868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 w="9525">
            <a:solidFill>
              <a:srgbClr val="3A3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896112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ECDF"/>
                </a:solidFill>
                <a:latin typeface="Trebuchet MS"/>
              </a:rPr>
              <a:t>[[ client_name ]]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716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99B85"/>
                </a:solidFill>
                <a:latin typeface="Trebuchet MS"/>
              </a:rPr>
              <a:t>Martial arts · San Jose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868680"/>
            <a:ext cx="5897880" cy="5257800"/>
          </a:xfrm>
          <a:prstGeom prst="roundRect">
            <a:avLst>
              <a:gd name="adj" fmla="val 4500"/>
            </a:avLst>
          </a:prstGeom>
          <a:solidFill>
            <a:srgbClr val="1E1A14"/>
          </a:solidFill>
          <a:ln w="9525">
            <a:solidFill>
              <a:srgbClr val="3A3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868680"/>
            <a:ext cx="5897880" cy="384048"/>
          </a:xfrm>
          <a:prstGeom prst="roundRect">
            <a:avLst>
              <a:gd name="adj" fmla="val 45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71032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72200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73368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941832"/>
            <a:ext cx="4800600" cy="237744"/>
          </a:xfrm>
          <a:prstGeom prst="roundRect">
            <a:avLst>
              <a:gd name="adj" fmla="val 50000"/>
            </a:avLst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946404"/>
            <a:ext cx="4617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99B85"/>
                </a:solidFill>
                <a:latin typeface="Trebuchet MS"/>
              </a:rPr>
              <a:t>google.com/search?q=best+martial+arts+in+san+jose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572768"/>
            <a:ext cx="5166360" cy="4233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DROP SCREENSHOT HERE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Search / listing screenshot for the martial-arts client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(insert client’s map-pack or listing capture)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9202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3A81E"/>
                </a:solidFill>
                <a:latin typeface="Trebuchet MS"/>
              </a:rPr>
              <a:t>WHAT WE DID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40280"/>
            <a:ext cx="5029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Local SEO + review engine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Paid ads — kids’ program enrollment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AI follow-up on trial-class leads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3A81E"/>
                </a:solidFill>
                <a:latin typeface="Trebuchet MS"/>
              </a:rPr>
              <a:t>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rank_before ]] → [[ rank_after ]]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RANKING · "[[ KEYWORD ]]"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21992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0008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reviews_before ]] → [[ reviews_after ]] ([[ rating ]]★)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REVIEWS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41064" y="384048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+[[ traffic_growth_pct ]]%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31596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TRAFFIC · [[ PERIOD ]]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leads_per_month ]]/mo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LEADS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21992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50008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conversion_pct ]]%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0008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CONVERSIONS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41064" y="48006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[[ automation ]]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527608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99B85"/>
                </a:solidFill>
                <a:latin typeface="Trebuchet MS"/>
              </a:rPr>
              <a:t>AI · [[ VOLUME ]]/MO HANDLED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502920" y="5742432"/>
          <a:ext cx="2377440" cy="6035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3017520" y="5742432"/>
            <a:ext cx="255117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A99B85"/>
                </a:solidFill>
                <a:latin typeface="Trebuchet MS"/>
              </a:rPr>
              <a:t>editable chart — replace with real before/after values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Zapplon</a:t>
            </a:r>
            <a:r>
              <a:rPr sz="900" b="0">
                <a:solidFill>
                  <a:srgbClr val="A99B85"/>
                </a:solidFill>
                <a:latin typeface="Trebuchet MS"/>
              </a:rPr>
              <a:t>  ·  outcomes, not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81E"/>
                </a:solidFill>
                <a:latin typeface="Trebuchet MS"/>
              </a:rPr>
              <a:t>DESIGN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658368"/>
            <a:ext cx="411480" cy="27940"/>
          </a:xfrm>
          <a:prstGeom prst="rect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ECDF"/>
                </a:solidFill>
                <a:latin typeface="Trebuchet MS"/>
              </a:rPr>
              <a:t>The standard we build to.</a:t>
            </a:r>
          </a:p>
        </p:txBody>
      </p:sp>
      <p:sp>
        <p:nvSpPr>
          <p:cNvPr id="6" name="Teardrop 5"/>
          <p:cNvSpPr/>
          <p:nvPr/>
        </p:nvSpPr>
        <p:spPr>
          <a:xfrm rot="18900000">
            <a:off x="10378440" y="320040"/>
            <a:ext cx="237744" cy="237744"/>
          </a:xfrm>
          <a:prstGeom prst="teardrop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71048" y="274320"/>
            <a:ext cx="1051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CDF"/>
                </a:solidFill>
                <a:latin typeface="Trebuchet MS"/>
              </a:rPr>
              <a:t>Zapplon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3A81E"/>
                </a:solidFill>
                <a:latin typeface="Trebuchet MS"/>
              </a:rPr>
              <a:t>Not our build — a benchmark we admire. </a:t>
            </a:r>
            <a:r>
              <a:rPr sz="1100" b="0">
                <a:solidFill>
                  <a:srgbClr val="A99B85"/>
                </a:solidFill>
                <a:latin typeface="Trebuchet MS"/>
              </a:rPr>
              <a:t>Posha — posha.com (all design credit to its owner).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868680"/>
            <a:ext cx="5897880" cy="5257800"/>
          </a:xfrm>
          <a:prstGeom prst="roundRect">
            <a:avLst>
              <a:gd name="adj" fmla="val 4500"/>
            </a:avLst>
          </a:prstGeom>
          <a:solidFill>
            <a:srgbClr val="1E1A14"/>
          </a:solidFill>
          <a:ln w="9525">
            <a:solidFill>
              <a:srgbClr val="3A3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06440" y="868680"/>
            <a:ext cx="5897880" cy="384048"/>
          </a:xfrm>
          <a:prstGeom prst="roundRect">
            <a:avLst>
              <a:gd name="adj" fmla="val 45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71032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72200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9400" y="941832"/>
            <a:ext cx="4800600" cy="237744"/>
          </a:xfrm>
          <a:prstGeom prst="roundRect">
            <a:avLst>
              <a:gd name="adj" fmla="val 50000"/>
            </a:avLst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946404"/>
            <a:ext cx="4617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99B85"/>
                </a:solidFill>
                <a:latin typeface="Trebuchet MS"/>
              </a:rPr>
              <a:t>posha.com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572768"/>
            <a:ext cx="5166360" cy="4233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DROP SCREENSHOT HERE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Hero screenshot — Posha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(clickable → posha.com)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5806440"/>
            <a:ext cx="5897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3A81E"/>
                </a:solidFill>
                <a:latin typeface="Trebuchet MS"/>
                <a:hlinkClick r:id="rId2"/>
              </a:rPr>
              <a:t>↗ posha.com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3774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3A81E"/>
                </a:solidFill>
                <a:latin typeface="Trebuchet MS"/>
              </a:rPr>
              <a:t>WHY IT SETS THE 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97480"/>
            <a:ext cx="5029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One idea per screen — “See dinner cook itself.”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Product photography does the selling; copy stays out of the way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A single high-contrast CTA (“Buy now”) always in reach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Warm, human art direction for a hardware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9496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4ECDF"/>
                </a:solidFill>
                <a:latin typeface="Trebuchet MS"/>
              </a:rPr>
              <a:t>This is the calibre of craft we design toward on every Zapplon build.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Zapplon</a:t>
            </a:r>
            <a:r>
              <a:rPr sz="900" b="0">
                <a:solidFill>
                  <a:srgbClr val="A99B85"/>
                </a:solidFill>
                <a:latin typeface="Trebuchet MS"/>
              </a:rPr>
              <a:t>  ·  outcomes, not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81E"/>
                </a:solidFill>
                <a:latin typeface="Trebuchet MS"/>
              </a:rPr>
              <a:t>DESIGN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658368"/>
            <a:ext cx="411480" cy="27940"/>
          </a:xfrm>
          <a:prstGeom prst="rect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ECDF"/>
                </a:solidFill>
                <a:latin typeface="Trebuchet MS"/>
              </a:rPr>
              <a:t>The standard we build to.</a:t>
            </a:r>
          </a:p>
        </p:txBody>
      </p:sp>
      <p:sp>
        <p:nvSpPr>
          <p:cNvPr id="6" name="Teardrop 5"/>
          <p:cNvSpPr/>
          <p:nvPr/>
        </p:nvSpPr>
        <p:spPr>
          <a:xfrm rot="18900000">
            <a:off x="10378440" y="320040"/>
            <a:ext cx="237744" cy="237744"/>
          </a:xfrm>
          <a:prstGeom prst="teardrop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71048" y="274320"/>
            <a:ext cx="1051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CDF"/>
                </a:solidFill>
                <a:latin typeface="Trebuchet MS"/>
              </a:rPr>
              <a:t>Zapplon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3A81E"/>
                </a:solidFill>
                <a:latin typeface="Trebuchet MS"/>
              </a:rPr>
              <a:t>Not our build — a benchmark we admire. </a:t>
            </a:r>
            <a:r>
              <a:rPr sz="1100" b="0">
                <a:solidFill>
                  <a:srgbClr val="A99B85"/>
                </a:solidFill>
                <a:latin typeface="Trebuchet MS"/>
              </a:rPr>
              <a:t>Corn Revolution — built by RESN (cornrevolution.resn.global).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868680"/>
            <a:ext cx="5897880" cy="5257800"/>
          </a:xfrm>
          <a:prstGeom prst="roundRect">
            <a:avLst>
              <a:gd name="adj" fmla="val 4500"/>
            </a:avLst>
          </a:prstGeom>
          <a:solidFill>
            <a:srgbClr val="1E1A14"/>
          </a:solidFill>
          <a:ln w="9525">
            <a:solidFill>
              <a:srgbClr val="3A3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06440" y="868680"/>
            <a:ext cx="5897880" cy="384048"/>
          </a:xfrm>
          <a:prstGeom prst="roundRect">
            <a:avLst>
              <a:gd name="adj" fmla="val 45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71032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72200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005840"/>
            <a:ext cx="100584" cy="100584"/>
          </a:xfrm>
          <a:prstGeom prst="ellipse">
            <a:avLst/>
          </a:prstGeom>
          <a:solidFill>
            <a:srgbClr val="A99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9400" y="941832"/>
            <a:ext cx="4800600" cy="237744"/>
          </a:xfrm>
          <a:prstGeom prst="roundRect">
            <a:avLst>
              <a:gd name="adj" fmla="val 50000"/>
            </a:avLst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946404"/>
            <a:ext cx="4617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99B85"/>
                </a:solidFill>
                <a:latin typeface="Trebuchet MS"/>
              </a:rPr>
              <a:t>cornrevolution.resn.global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572768"/>
            <a:ext cx="5166360" cy="4233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3A81E"/>
                </a:solidFill>
                <a:latin typeface="Trebuchet MS"/>
              </a:rPr>
              <a:t>DROP SCREENSHOT HERE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Hero screenshot — Corn Revolution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(clickable → cornrevolution.resn.global)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5806440"/>
            <a:ext cx="5897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3A81E"/>
                </a:solidFill>
                <a:latin typeface="Trebuchet MS"/>
                <a:hlinkClick r:id="rId2"/>
              </a:rPr>
              <a:t>↗ cornrevolution.resn.global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3774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3A81E"/>
                </a:solidFill>
                <a:latin typeface="Trebuchet MS"/>
              </a:rPr>
              <a:t>WHY IT SETS THE 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97480"/>
            <a:ext cx="5029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Cinematic WebGL storytelling with restraint — dark canvas, one accent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Data made emotional: germplasm history told as a living visual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Typography as hero — massive, confident headlines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3A81E"/>
                </a:solidFill>
                <a:latin typeface="Trebuchet MS"/>
              </a:rPr>
              <a:t>—  </a:t>
            </a:r>
            <a:r>
              <a:rPr sz="1100" b="0">
                <a:solidFill>
                  <a:srgbClr val="F4ECDF"/>
                </a:solidFill>
                <a:latin typeface="Trebuchet MS"/>
              </a:rPr>
              <a:t>Every interaction rewards curiosity without hurting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9496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4ECDF"/>
                </a:solidFill>
                <a:latin typeface="Trebuchet MS"/>
              </a:rPr>
              <a:t>This is the calibre of craft we design toward on every Zapplon build.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Zapplon</a:t>
            </a:r>
            <a:r>
              <a:rPr sz="900" b="0">
                <a:solidFill>
                  <a:srgbClr val="A99B85"/>
                </a:solidFill>
                <a:latin typeface="Trebuchet MS"/>
              </a:rPr>
              <a:t>  ·  outcomes, not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81E"/>
                </a:solidFill>
                <a:latin typeface="Trebuchet MS"/>
              </a:rPr>
              <a:t>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658368"/>
            <a:ext cx="411480" cy="27940"/>
          </a:xfrm>
          <a:prstGeom prst="rect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ardrop 4"/>
          <p:cNvSpPr/>
          <p:nvPr/>
        </p:nvSpPr>
        <p:spPr>
          <a:xfrm rot="18900000">
            <a:off x="566928" y="1737360"/>
            <a:ext cx="457200" cy="457200"/>
          </a:xfrm>
          <a:prstGeom prst="teardrop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ECDF"/>
                </a:solidFill>
                <a:latin typeface="Trebuchet MS"/>
              </a:rPr>
              <a:t>Ready to be found,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3A81E"/>
                </a:solidFill>
                <a:latin typeface="Trebuchet MS"/>
              </a:rPr>
              <a:t>chosen and booked?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343400"/>
            <a:ext cx="2377440" cy="54864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34340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ECDF"/>
                </a:solidFill>
                <a:latin typeface="Trebuchet MS"/>
              </a:rPr>
              <a:t>zapplon.com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4343400"/>
            <a:ext cx="2377440" cy="54864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434340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ECDF"/>
                </a:solidFill>
                <a:latin typeface="Trebuchet MS"/>
              </a:rPr>
              <a:t>[[ email ]]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343400"/>
            <a:ext cx="2377440" cy="548640"/>
          </a:xfrm>
          <a:prstGeom prst="roundRect">
            <a:avLst>
              <a:gd name="adj" fmla="val 8000"/>
            </a:avLst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434340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ECDF"/>
                </a:solidFill>
                <a:latin typeface="Trebuchet MS"/>
              </a:rPr>
              <a:t>[[ phone ]]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Zapplon · performance growth marketing · outcomes, not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Zapplon</a:t>
            </a:r>
            <a:r>
              <a:rPr sz="900" b="0">
                <a:solidFill>
                  <a:srgbClr val="A99B85"/>
                </a:solidFill>
                <a:latin typeface="Trebuchet MS"/>
              </a:rPr>
              <a:t>  ·  outcomes, not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81E"/>
                </a:solidFill>
                <a:latin typeface="Trebuchet MS"/>
              </a:rPr>
              <a:t>INTERNAL — REMOVE BEFORE SENDING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658368"/>
            <a:ext cx="411480" cy="27940"/>
          </a:xfrm>
          <a:prstGeom prst="rect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4ECDF"/>
                </a:solidFill>
                <a:latin typeface="Trebuchet MS"/>
              </a:rPr>
              <a:t>Fill-in list: replace every [[ token ]] with real data.</a:t>
            </a:r>
          </a:p>
        </p:txBody>
      </p:sp>
      <p:sp>
        <p:nvSpPr>
          <p:cNvPr id="6" name="Teardrop 5"/>
          <p:cNvSpPr/>
          <p:nvPr/>
        </p:nvSpPr>
        <p:spPr>
          <a:xfrm rot="18900000">
            <a:off x="10378440" y="320040"/>
            <a:ext cx="237744" cy="237744"/>
          </a:xfrm>
          <a:prstGeom prst="teardrop">
            <a:avLst/>
          </a:prstGeom>
          <a:solidFill>
            <a:srgbClr val="F3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71048" y="274320"/>
            <a:ext cx="1051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CDF"/>
                </a:solidFill>
                <a:latin typeface="Trebuchet MS"/>
              </a:rPr>
              <a:t>Zapplon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clients_served ]]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9164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Slide 2 metrics band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1226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campaigns_managed ]]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12264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Slide 2 metrics 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3288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leads_generated ]]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3288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Slide 2 metrics band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535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websites_built ]]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53512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Slide 2 metrics band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7413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ai_automations ]]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374136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Slide 2 metrics band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94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client_name ]]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9476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Each portfolio slide — real client name + logo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1538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rank_before ]]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15384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Portfolio results chips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63600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rank_after ]]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3600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Portfolio results chips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5663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keyword ]]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056632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Ranked keyword per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47725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reviews_before ]]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477256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Portfolio results chips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6916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reviews_after ]]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169164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Portfolio results chips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11226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rating ]]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112264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Star rating per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53288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traffic_growth_pct ]]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53288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Traffic growth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9535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period ]]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953512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Measurement window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37413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leads_per_month ]]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374136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Leads/mo per 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794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conversion_pct ]]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79476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Conversion % per client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21538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automation ]]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215384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AI automation name (e.g. AI receptionist)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63600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volume ]]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63600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Monthly volume the automation handles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05663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email ]]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056632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Closing slide contact chip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47725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3A81E"/>
                </a:solidFill>
                <a:latin typeface="Trebuchet MS"/>
              </a:rPr>
              <a:t>[[ phone ]]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5477256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99B85"/>
                </a:solidFill>
                <a:latin typeface="Trebuchet MS"/>
              </a:rPr>
              <a:t>Closing slide contact chip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989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4ECDF"/>
                </a:solidFill>
                <a:latin typeface="Trebuchet MS"/>
              </a:rPr>
              <a:t>Also insert: client logos, real listing screenshots into each browser frame, and real values into each editable chart (current chart values are illustrative only).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Zapplon</a:t>
            </a:r>
            <a:r>
              <a:rPr sz="900" b="0">
                <a:solidFill>
                  <a:srgbClr val="A99B85"/>
                </a:solidFill>
                <a:latin typeface="Trebuchet MS"/>
              </a:rPr>
              <a:t>  ·  outcomes, not hours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99B85"/>
                </a:solidFill>
                <a:latin typeface="Trebuchet M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